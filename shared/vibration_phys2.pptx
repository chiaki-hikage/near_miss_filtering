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左：右前輪が凹みを通るときの時間順のメカニズム（①〜③は後ろから見た正面図、④は側面図）と、既存の 7 自由度フルカーモデルで計算した応答。計算条件は深さ 2 cm・長さ 0.8 m（縁は 5 cm で立ち上がる）の凹みを 60 km/h で通過、車両パラメータは既定値。この条件ではタイヤは浮かない。③のばね下の揺れはモデルでは 1 周期ほどで収まるが、実測では 0.5〜1.5 秒続く。中央：代表的な運動方程式（長い項は「…」で省略）。右：片側入力のとき CAN/IMU に現れると期待される特徴（理論上の整理で、実測例は次のスライド）。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508000" y="355600"/>
            <a:ext cx="11176000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508000" y="1010890"/>
            <a:ext cx="10871200" cy="50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508000" y="355600"/>
            <a:ext cx="11176000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508000" y="1010890"/>
            <a:ext cx="10871200" cy="50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8000" y="355600"/>
            <a:ext cx="1151128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i="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片側の路面入力による異常振動のモデル化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8000" y="769590"/>
            <a:ext cx="115112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片輪が凹みを踏むと、</a:t>
            </a: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左右の入力の差</a:t>
            </a: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がロールを生み、凹みの縁が</a:t>
            </a: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ばね下を約 11 Hz</a:t>
            </a: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で揺らす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8000" y="1153120"/>
            <a:ext cx="3924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振動による車両応答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8000" y="139695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右前輪 → 右後輪が凹みを通過（モデル計算）</a:t>
            </a:r>
            <a:endParaRPr lang="en-US" sz="1200" dirty="0"/>
          </a:p>
        </p:txBody>
      </p:sp>
      <p:pic>
        <p:nvPicPr>
          <p:cNvPr id="6" name="Image 0" descr="正面図。右輪が凹みに落ち、車体が右下がりに傾く">    </p:cNvPr>
          <p:cNvPicPr>
            <a:picLocks noChangeAspect="1"/>
          </p:cNvPicPr>
          <p:nvPr/>
        </p:nvPicPr>
        <p:blipFill>
          <a:blip r:embed="rId1"/>
          <a:srcRect l="-143" r="-143" t="0" b="0"/>
          <a:stretch/>
        </p:blipFill>
        <p:spPr>
          <a:xfrm>
            <a:off x="514350" y="169282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11175" y="168964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272152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右輪が落ちる</a:t>
            </a:r>
            <a:endParaRPr lang="en-US" sz="1200" dirty="0"/>
          </a:p>
        </p:txBody>
      </p:sp>
      <p:pic>
        <p:nvPicPr>
          <p:cNvPr id="9" name="Image 1" descr="正面図。右輪が奥の縁に当たり、上向きの衝撃を受ける">    </p:cNvPr>
          <p:cNvPicPr>
            <a:picLocks noChangeAspect="1"/>
          </p:cNvPicPr>
          <p:nvPr/>
        </p:nvPicPr>
        <p:blipFill>
          <a:blip r:embed="rId2"/>
          <a:srcRect l="-143" r="-143" t="0" b="0"/>
          <a:stretch/>
        </p:blipFill>
        <p:spPr>
          <a:xfrm>
            <a:off x="2228850" y="169282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2225675" y="168964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22500" y="272152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奥の縁に当たる</a:t>
            </a:r>
            <a:endParaRPr lang="en-US" sz="1200" dirty="0"/>
          </a:p>
        </p:txBody>
      </p:sp>
      <p:pic>
        <p:nvPicPr>
          <p:cNvPr id="12" name="Image 2" descr="正面図。ばね下が上下に揺れ、タイヤが浮くこともある">    </p:cNvPr>
          <p:cNvPicPr>
            <a:picLocks noChangeAspect="1"/>
          </p:cNvPicPr>
          <p:nvPr/>
        </p:nvPicPr>
        <p:blipFill>
          <a:blip r:embed="rId3"/>
          <a:srcRect l="-143" r="-143" t="0" b="0"/>
          <a:stretch/>
        </p:blipFill>
        <p:spPr>
          <a:xfrm>
            <a:off x="514350" y="293360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3" name="Shape 8"/>
          <p:cNvSpPr/>
          <p:nvPr/>
        </p:nvSpPr>
        <p:spPr>
          <a:xfrm>
            <a:off x="511175" y="293042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8000" y="396230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ばね下が揺れる</a:t>
            </a:r>
            <a:endParaRPr lang="en-US" sz="1200" dirty="0"/>
          </a:p>
        </p:txBody>
      </p:sp>
      <p:pic>
        <p:nvPicPr>
          <p:cNvPr id="15" name="Image 3" descr="側面図。後輪が同じ凹みを遅れて通る">    </p:cNvPr>
          <p:cNvPicPr>
            <a:picLocks noChangeAspect="1"/>
          </p:cNvPicPr>
          <p:nvPr/>
        </p:nvPicPr>
        <p:blipFill>
          <a:blip r:embed="rId4"/>
          <a:srcRect l="-143" r="-143" t="0" b="0"/>
          <a:stretch/>
        </p:blipFill>
        <p:spPr>
          <a:xfrm>
            <a:off x="2228850" y="293360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6" name="Shape 10"/>
          <p:cNvSpPr/>
          <p:nvPr/>
        </p:nvSpPr>
        <p:spPr>
          <a:xfrm>
            <a:off x="2225675" y="293042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22500" y="396230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後輪が続く（L/v 後）</a:t>
            </a:r>
            <a:endParaRPr lang="en-US" sz="1200" dirty="0"/>
          </a:p>
        </p:txBody>
      </p:sp>
      <p:pic>
        <p:nvPicPr>
          <p:cNvPr id="18" name="Image 4" descr="右前輪が凹みに入ってからの上下加速度、ロール角速度、ピッチ角速度、右前輪の上下変位。①〜④の時刻に縦線">    </p:cNvPr>
          <p:cNvPicPr>
            <a:picLocks noChangeAspect="1"/>
          </p:cNvPicPr>
          <p:nvPr/>
        </p:nvPicPr>
        <p:blipFill>
          <a:blip r:embed="rId5"/>
          <a:srcRect l="-29" r="-29" t="0" b="0"/>
          <a:stretch/>
        </p:blipFill>
        <p:spPr>
          <a:xfrm>
            <a:off x="508000" y="4244231"/>
            <a:ext cx="3600450" cy="2159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0" y="115312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物理モデル（7 自由度フルカー）</a:t>
            </a:r>
            <a:endParaRPr lang="en-US" sz="1300" dirty="0"/>
          </a:p>
        </p:txBody>
      </p:sp>
      <p:pic>
        <p:nvPicPr>
          <p:cNvPr id="20" name="Image 5" descr="フルカーモデルの代表的な運動方程式。車体の上下・ピッチ・ロール、サスペンション、ばね下とタイヤ、路面入力">    </p:cNvPr>
          <p:cNvPicPr>
            <a:picLocks noChangeAspect="1"/>
          </p:cNvPicPr>
          <p:nvPr/>
        </p:nvPicPr>
        <p:blipFill>
          <a:blip r:embed="rId6"/>
          <a:srcRect l="0" r="0" t="-19" b="-19"/>
          <a:stretch/>
        </p:blipFill>
        <p:spPr>
          <a:xfrm>
            <a:off x="4572000" y="1460450"/>
            <a:ext cx="3556000" cy="327025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572000" y="4806900"/>
            <a:ext cx="3556000" cy="1346002"/>
          </a:xfrm>
          <a:prstGeom prst="roundRect">
            <a:avLst>
              <a:gd name="adj" fmla="val 5661"/>
            </a:avLst>
          </a:prstGeom>
          <a:solidFill>
            <a:srgbClr val="F1F3F6"/>
          </a:solidFill>
          <a:ln/>
        </p:spPr>
      </p:sp>
      <p:sp>
        <p:nvSpPr>
          <p:cNvPr id="22" name="Text 14"/>
          <p:cNvSpPr/>
          <p:nvPr/>
        </p:nvSpPr>
        <p:spPr>
          <a:xfrm>
            <a:off x="4699000" y="4908500"/>
            <a:ext cx="3401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ロールを起こすのは左右の入力の差。左右が同じならロールは 0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699000" y="5373241"/>
            <a:ext cx="3429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固有振動数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車体 1.3〜1.7 Hz、ばね下 約 11 Hz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699000" y="5624661"/>
            <a:ext cx="3401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F_s, F_b, F_t：サスペンション・スタビライザー・タイヤの力。−W_i で頭打ち＝タイヤが浮く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8382000" y="115312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CAN/IMU に現れる特徴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8385175" y="1463625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515350" y="1555700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ロール角速度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515350" y="1812230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片側入力で大きく出る。最初の向きで、側と凹み・突起が分かる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385175" y="2413496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515350" y="2505571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ピッチ角速度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8515350" y="2762101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前輪で機首下げ → L/v 後に後輪で機首上げ（凹みの場合）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385175" y="3363367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515350" y="3455442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上下加速度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515350" y="3711972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縁で大きなピーク。ばね下の約 11 Hz の揺れが続く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8385175" y="4313238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15350" y="4405313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輪速（4 輪）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515350" y="4661843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当たった側の輪速が揺れる。前輪 → 後輪の時間差 ≈ L/v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382000" y="5259933"/>
            <a:ext cx="3302000" cy="860971"/>
          </a:xfrm>
          <a:prstGeom prst="roundRect">
            <a:avLst>
              <a:gd name="adj" fmla="val 7375"/>
            </a:avLst>
          </a:prstGeom>
          <a:solidFill>
            <a:srgbClr val="F1F3F6"/>
          </a:solidFill>
          <a:ln/>
        </p:spPr>
      </p:sp>
      <p:sp>
        <p:nvSpPr>
          <p:cNvPr id="39" name="Text 31"/>
          <p:cNvSpPr/>
          <p:nvPr/>
        </p:nvSpPr>
        <p:spPr>
          <a:xfrm>
            <a:off x="8509000" y="5348833"/>
            <a:ext cx="31394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片側か両側かの目安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8509000" y="5605363"/>
            <a:ext cx="3139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ロール/上下の比と輪速の左右差。両側同時なら比 ≈ 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片側の路面入力による異常振動のモデル化">
  <a:themeElements>
    <a:clrScheme name="片側の路面入力による異常振動のモデル化">
      <a:dk1>
        <a:srgbClr val="4A5568"/>
      </a:dk1>
      <a:lt1>
        <a:srgbClr val="FFFFFF"/>
      </a:lt1>
      <a:dk2>
        <a:srgbClr val="77808E"/>
      </a:dk2>
      <a:lt2>
        <a:srgbClr val="EDEEF0"/>
      </a:lt2>
      <a:accent1>
        <a:srgbClr val="C8551F"/>
      </a:accent1>
      <a:accent2>
        <a:srgbClr val="1F2A37"/>
      </a:accent2>
      <a:accent3>
        <a:srgbClr val="9AA0A6"/>
      </a:accent3>
      <a:accent4>
        <a:srgbClr val="9299A4"/>
      </a:accent4>
      <a:accent5>
        <a:srgbClr val="AEB3BB"/>
      </a:accent5>
      <a:accent6>
        <a:srgbClr val="C9CCD2"/>
      </a:accent6>
      <a:hlink>
        <a:srgbClr val="0563C1"/>
      </a:hlink>
      <a:folHlink>
        <a:srgbClr val="954F72"/>
      </a:folHlink>
    </a:clrScheme>
    <a:fontScheme name="片側の路面入力による異常振動のモデル化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片側の路面入力による異常振動のモデル化</dc:title>
  <dc:subject/>
  <dc:creator/>
  <cp:lastModifiedBy/>
  <cp:revision>1</cp:revision>
  <dcterms:created xsi:type="dcterms:W3CDTF">2026-10-19T01:12:58Z</dcterms:created>
  <dcterms:modified xsi:type="dcterms:W3CDTF">2026-10-19T01:12:58Z</dcterms:modified>
</cp:coreProperties>
</file>