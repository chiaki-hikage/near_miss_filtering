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左：右前輪が凹みを通るときの時間順のメカニズム。①〜③は後ろから見た正面図、④は右から見た側面図。右：モデルの運動方程式。タイヤ力の max は、接地荷重が 0 を下回らない（タイヤが路面を引っ張れない）ことを表す。車両パラメータは公開諸元と仮定値で固定。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既存の 7 自由度フルカーモデルで計算した応答。車両パラメータは既定値のまま。凹みは縁が 5 cm で立ち上がる台形（タイヤの包み込み 0.15 m を適用）。① 右前輪が落ちると車体は右下がり（ロール角速度が正）、機首下げ（ピッチ角速度が負）、上下加速度は下向き。② 奥の縁で押し上げられ、上下加速度が上向きに大きく振れ、ロールは戻り始める。③ ばね下が路面より行き過ぎて約 11 Hz で揺れるが、モデルの減衰では 1 周期ほどで収まる（実測では 0.5〜1.5 秒続く）。④ L/v = 0.16 秒後に右後輪が同じ凹みを通り、ロールが再び右下がり、ピッチは今度は機首上げ。この条件ではタイヤは浮かない。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06400"/>
            <a:ext cx="10972800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503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50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074390"/>
            <a:ext cx="10769600" cy="4970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06400"/>
            <a:ext cx="10972800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503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50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074390"/>
            <a:ext cx="10769600" cy="4970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06400"/>
            <a:ext cx="1130198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6"/>
              </a:lnSpc>
              <a:buNone/>
            </a:pPr>
            <a:r>
              <a:rPr lang="en-US" sz="2405" b="1" i="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片側の路面入力による異常振動の物理</a:t>
            </a:r>
            <a:endParaRPr lang="en-US" sz="2405" dirty="0"/>
          </a:p>
        </p:txBody>
      </p:sp>
      <p:sp>
        <p:nvSpPr>
          <p:cNvPr id="3" name="Text 1"/>
          <p:cNvSpPr/>
          <p:nvPr/>
        </p:nvSpPr>
        <p:spPr>
          <a:xfrm>
            <a:off x="609600" y="829270"/>
            <a:ext cx="11301984" cy="25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9"/>
              </a:lnSpc>
              <a:buNone/>
            </a:pPr>
            <a:r>
              <a:rPr lang="en-US" sz="1299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片側だけの凹凸は</a:t>
            </a:r>
            <a:r>
              <a:rPr lang="en-US" sz="1299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左右の入力の差</a:t>
            </a:r>
            <a:r>
              <a:rPr lang="en-US" sz="1299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としてロールを生み、凹みの鋭い縁が</a:t>
            </a:r>
            <a:r>
              <a:rPr lang="en-US" sz="1299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ばね下の共振（約 11 Hz）</a:t>
            </a:r>
            <a:r>
              <a:rPr lang="en-US" sz="1299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を強く揺らす</a:t>
            </a:r>
            <a:endParaRPr lang="en-US" sz="1299" dirty="0"/>
          </a:p>
        </p:txBody>
      </p:sp>
      <p:sp>
        <p:nvSpPr>
          <p:cNvPr id="4" name="Text 2"/>
          <p:cNvSpPr/>
          <p:nvPr/>
        </p:nvSpPr>
        <p:spPr>
          <a:xfrm>
            <a:off x="609600" y="1234232"/>
            <a:ext cx="523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メカニズム（右前輪が凹みを通る場合）</a:t>
            </a:r>
            <a:endParaRPr lang="en-US" sz="1300" dirty="0"/>
          </a:p>
        </p:txBody>
      </p:sp>
      <p:pic>
        <p:nvPicPr>
          <p:cNvPr id="5" name="Image 0" descr="正面図。右輪が凹みに落ち、車体が右下がりに傾く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609600" y="1566962"/>
            <a:ext cx="2476500" cy="1454150"/>
          </a:xfrm>
          <a:prstGeom prst="roundRect">
            <a:avLst>
              <a:gd name="adj" fmla="val 3493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09600" y="3059212"/>
            <a:ext cx="255079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右輪が凹みに落ちる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車体は右下がりにロール</a:t>
            </a:r>
            <a:endParaRPr lang="en-US" sz="1200" dirty="0"/>
          </a:p>
        </p:txBody>
      </p:sp>
      <p:pic>
        <p:nvPicPr>
          <p:cNvPr id="7" name="Image 1" descr="正面図。右輪が凹みの奥の縁に当たり、上向きの衝撃で車体が左下がりに傾く">    </p:cNvPr>
          <p:cNvPicPr>
            <a:picLocks noChangeAspect="1"/>
          </p:cNvPicPr>
          <p:nvPr/>
        </p:nvPicPr>
        <p:blipFill>
          <a:blip r:embed="rId2"/>
          <a:srcRect l="-27" r="-27" t="0" b="0"/>
          <a:stretch/>
        </p:blipFill>
        <p:spPr>
          <a:xfrm>
            <a:off x="3213100" y="1566962"/>
            <a:ext cx="2476500" cy="1454150"/>
          </a:xfrm>
          <a:prstGeom prst="roundRect">
            <a:avLst>
              <a:gd name="adj" fmla="val 3493"/>
            </a:avLst>
          </a:prstGeom>
        </p:spPr>
      </p:pic>
      <p:sp>
        <p:nvSpPr>
          <p:cNvPr id="8" name="Text 4"/>
          <p:cNvSpPr/>
          <p:nvPr/>
        </p:nvSpPr>
        <p:spPr>
          <a:xfrm>
            <a:off x="3213100" y="3059212"/>
            <a:ext cx="255079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奥の縁に当たり、タイヤ力が急増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上向きの衝撃で左下がりへ</a:t>
            </a:r>
            <a:endParaRPr lang="en-US" sz="1200" dirty="0"/>
          </a:p>
        </p:txBody>
      </p:sp>
      <p:pic>
        <p:nvPicPr>
          <p:cNvPr id="9" name="Image 2" descr="正面図。右輪が上下に振動し、路面から浮いている">    </p:cNvPr>
          <p:cNvPicPr>
            <a:picLocks noChangeAspect="1"/>
          </p:cNvPicPr>
          <p:nvPr/>
        </p:nvPicPr>
        <p:blipFill>
          <a:blip r:embed="rId3"/>
          <a:srcRect l="-27" r="-27" t="0" b="0"/>
          <a:stretch/>
        </p:blipFill>
        <p:spPr>
          <a:xfrm>
            <a:off x="609600" y="3597672"/>
            <a:ext cx="2476500" cy="1454150"/>
          </a:xfrm>
          <a:prstGeom prst="roundRect">
            <a:avLst>
              <a:gd name="adj" fmla="val 3493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09600" y="5089922"/>
            <a:ext cx="2550795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ばね下が約 11 Hz で上下に揺れる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タイヤが浮くこともある</a:t>
            </a:r>
            <a:endParaRPr lang="en-US" sz="1200" dirty="0"/>
          </a:p>
        </p:txBody>
      </p:sp>
      <p:pic>
        <p:nvPicPr>
          <p:cNvPr id="11" name="Image 3" descr="側面図。前輪が通過した凹みを、後輪が遅れて通る">    </p:cNvPr>
          <p:cNvPicPr>
            <a:picLocks noChangeAspect="1"/>
          </p:cNvPicPr>
          <p:nvPr/>
        </p:nvPicPr>
        <p:blipFill>
          <a:blip r:embed="rId4"/>
          <a:srcRect l="-27" r="-27" t="0" b="0"/>
          <a:stretch/>
        </p:blipFill>
        <p:spPr>
          <a:xfrm>
            <a:off x="3213100" y="3597672"/>
            <a:ext cx="2476500" cy="1454150"/>
          </a:xfrm>
          <a:prstGeom prst="roundRect">
            <a:avLst>
              <a:gd name="adj" fmla="val 3493"/>
            </a:avLst>
          </a:prstGeom>
        </p:spPr>
      </p:pic>
      <p:sp>
        <p:nvSpPr>
          <p:cNvPr id="12" name="Text 6"/>
          <p:cNvSpPr/>
          <p:nvPr/>
        </p:nvSpPr>
        <p:spPr>
          <a:xfrm>
            <a:off x="3213100" y="5089922"/>
            <a:ext cx="2550795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L/v 後に右後輪が同じ凹みを通る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車体は 1〜2 Hz でロール・ピッチ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09600" y="5808712"/>
            <a:ext cx="5080000" cy="1081881"/>
          </a:xfrm>
          <a:prstGeom prst="roundRect">
            <a:avLst>
              <a:gd name="adj" fmla="val 7043"/>
            </a:avLst>
          </a:prstGeom>
          <a:solidFill>
            <a:srgbClr val="F1F3F6"/>
          </a:solidFill>
          <a:ln/>
        </p:spPr>
      </p:sp>
      <p:sp>
        <p:nvSpPr>
          <p:cNvPr id="14" name="Text 8"/>
          <p:cNvSpPr/>
          <p:nvPr/>
        </p:nvSpPr>
        <p:spPr>
          <a:xfrm>
            <a:off x="762000" y="5910312"/>
            <a:ext cx="49184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固有振動数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車体の上下・ピッチ 1.3〜1.4 Hz、ロール 1.7 Hz、ばね下 11〜12 Hz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62000" y="6362353"/>
            <a:ext cx="49184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左右が同じ入力ならロールは 0。ロールを起こすのは左右の差だけ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994400" y="1234232"/>
            <a:ext cx="57556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自由度フルカーモデルの運動方程式</a:t>
            </a:r>
            <a:endParaRPr lang="en-US" sz="1300" dirty="0"/>
          </a:p>
        </p:txBody>
      </p:sp>
      <p:pic>
        <p:nvPicPr>
          <p:cNvPr id="17" name="Image 4" descr="フルカーモデルの運動方程式。車体の上下・ピッチ・ロール、サスペンションとスタビライザー、ばね下とタイヤ、路面入力、IMU の観測量">    </p:cNvPr>
          <p:cNvPicPr>
            <a:picLocks noChangeAspect="1"/>
          </p:cNvPicPr>
          <p:nvPr/>
        </p:nvPicPr>
        <p:blipFill>
          <a:blip r:embed="rId5"/>
          <a:srcRect l="0" r="0" t="-27" b="-27"/>
          <a:stretch/>
        </p:blipFill>
        <p:spPr>
          <a:xfrm>
            <a:off x="5994400" y="1541562"/>
            <a:ext cx="4953000" cy="3937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94400" y="5554762"/>
            <a:ext cx="575564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FL, FR, RL, RR。x_i, y_i：重心から見た輪の位置（前・右が正）。φ：右下がり正、θ：機首上げ正。F_s・F_b・F_t：サスペンション・スタビライザー（後輪も同様）・タイヤの力。W_i：静的輪荷重。h_r・h_p：重心からロール軸・ピッチ軸までの高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06400"/>
            <a:ext cx="11301984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コマに対応する車両の応答（モデル計算）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862310"/>
            <a:ext cx="1130198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右前輪 → 右後輪が、深さ 2 cm・長さ 0.8 m の凹みを 60 km/h で通過した場合</a:t>
            </a:r>
            <a:endParaRPr lang="en-US" sz="1400" dirty="0"/>
          </a:p>
        </p:txBody>
      </p:sp>
      <p:pic>
        <p:nvPicPr>
          <p:cNvPr id="4" name="Image 0" descr="右輪が凹みに落ちる正面図">    </p:cNvPr>
          <p:cNvPicPr>
            <a:picLocks noChangeAspect="1"/>
          </p:cNvPicPr>
          <p:nvPr/>
        </p:nvPicPr>
        <p:blipFill>
          <a:blip r:embed="rId1"/>
          <a:srcRect l="-215" r="-215" t="0" b="0"/>
          <a:stretch/>
        </p:blipFill>
        <p:spPr>
          <a:xfrm>
            <a:off x="615950" y="1269950"/>
            <a:ext cx="1606550" cy="939800"/>
          </a:xfrm>
          <a:prstGeom prst="roundRect">
            <a:avLst>
              <a:gd name="adj" fmla="val 473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12775" y="1266775"/>
            <a:ext cx="1612900" cy="946150"/>
          </a:xfrm>
          <a:prstGeom prst="roundRect">
            <a:avLst>
              <a:gd name="adj" fmla="val 5034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9600" y="2254200"/>
            <a:ext cx="16700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右輪が落ちる</a:t>
            </a:r>
            <a:endParaRPr lang="en-US" sz="1200" dirty="0"/>
          </a:p>
        </p:txBody>
      </p:sp>
      <p:pic>
        <p:nvPicPr>
          <p:cNvPr id="7" name="Image 1" descr="右輪が奥の縁に当たる正面図">    </p:cNvPr>
          <p:cNvPicPr>
            <a:picLocks noChangeAspect="1"/>
          </p:cNvPicPr>
          <p:nvPr/>
        </p:nvPicPr>
        <p:blipFill>
          <a:blip r:embed="rId2"/>
          <a:srcRect l="-215" r="-215" t="0" b="0"/>
          <a:stretch/>
        </p:blipFill>
        <p:spPr>
          <a:xfrm>
            <a:off x="2489200" y="1269950"/>
            <a:ext cx="1606550" cy="939800"/>
          </a:xfrm>
          <a:prstGeom prst="roundRect">
            <a:avLst>
              <a:gd name="adj" fmla="val 4730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2486025" y="1266775"/>
            <a:ext cx="1612900" cy="946150"/>
          </a:xfrm>
          <a:prstGeom prst="roundRect">
            <a:avLst>
              <a:gd name="adj" fmla="val 5034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482850" y="2254200"/>
            <a:ext cx="16700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奥の縁に当たる</a:t>
            </a:r>
            <a:endParaRPr lang="en-US" sz="1200" dirty="0"/>
          </a:p>
        </p:txBody>
      </p:sp>
      <p:pic>
        <p:nvPicPr>
          <p:cNvPr id="10" name="Image 2" descr="ばね下が上下に揺れる正面図">    </p:cNvPr>
          <p:cNvPicPr>
            <a:picLocks noChangeAspect="1"/>
          </p:cNvPicPr>
          <p:nvPr/>
        </p:nvPicPr>
        <p:blipFill>
          <a:blip r:embed="rId3"/>
          <a:srcRect l="-215" r="-215" t="0" b="0"/>
          <a:stretch/>
        </p:blipFill>
        <p:spPr>
          <a:xfrm>
            <a:off x="4362450" y="1269950"/>
            <a:ext cx="1606550" cy="939800"/>
          </a:xfrm>
          <a:prstGeom prst="roundRect">
            <a:avLst>
              <a:gd name="adj" fmla="val 4730"/>
            </a:avLst>
          </a:prstGeom>
        </p:spPr>
      </p:pic>
      <p:sp>
        <p:nvSpPr>
          <p:cNvPr id="11" name="Shape 6"/>
          <p:cNvSpPr/>
          <p:nvPr/>
        </p:nvSpPr>
        <p:spPr>
          <a:xfrm>
            <a:off x="4359275" y="1266775"/>
            <a:ext cx="1612900" cy="946150"/>
          </a:xfrm>
          <a:prstGeom prst="roundRect">
            <a:avLst>
              <a:gd name="adj" fmla="val 5034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356100" y="2254200"/>
            <a:ext cx="16700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ばね下が揺れる</a:t>
            </a:r>
            <a:endParaRPr lang="en-US" sz="1200" dirty="0"/>
          </a:p>
        </p:txBody>
      </p:sp>
      <p:pic>
        <p:nvPicPr>
          <p:cNvPr id="13" name="Image 3" descr="後輪が同じ凹みを通る側面図">    </p:cNvPr>
          <p:cNvPicPr>
            <a:picLocks noChangeAspect="1"/>
          </p:cNvPicPr>
          <p:nvPr/>
        </p:nvPicPr>
        <p:blipFill>
          <a:blip r:embed="rId4"/>
          <a:srcRect l="-215" r="-215" t="0" b="0"/>
          <a:stretch/>
        </p:blipFill>
        <p:spPr>
          <a:xfrm>
            <a:off x="6235700" y="1269950"/>
            <a:ext cx="1606550" cy="939800"/>
          </a:xfrm>
          <a:prstGeom prst="roundRect">
            <a:avLst>
              <a:gd name="adj" fmla="val 4730"/>
            </a:avLst>
          </a:prstGeom>
        </p:spPr>
      </p:pic>
      <p:sp>
        <p:nvSpPr>
          <p:cNvPr id="14" name="Shape 8"/>
          <p:cNvSpPr/>
          <p:nvPr/>
        </p:nvSpPr>
        <p:spPr>
          <a:xfrm>
            <a:off x="6232525" y="1266775"/>
            <a:ext cx="1612900" cy="946150"/>
          </a:xfrm>
          <a:prstGeom prst="roundRect">
            <a:avLst>
              <a:gd name="adj" fmla="val 5034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229350" y="2254200"/>
            <a:ext cx="198310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後輪が続く（L/v 後）</a:t>
            </a:r>
            <a:endParaRPr lang="en-US" sz="1200" dirty="0"/>
          </a:p>
        </p:txBody>
      </p:sp>
      <p:pic>
        <p:nvPicPr>
          <p:cNvPr id="16" name="Image 4" descr="右前輪が凹みに入ってからの上下加速度、ロール角速度、ピッチ角速度、右前輪の上下変位の時系列。①〜④の時刻に縦線">    </p:cNvPr>
          <p:cNvPicPr>
            <a:picLocks noChangeAspect="1"/>
          </p:cNvPicPr>
          <p:nvPr/>
        </p:nvPicPr>
        <p:blipFill>
          <a:blip r:embed="rId5"/>
          <a:srcRect l="-32" r="-32" t="0" b="0"/>
          <a:stretch/>
        </p:blipFill>
        <p:spPr>
          <a:xfrm>
            <a:off x="609600" y="2612330"/>
            <a:ext cx="10972800" cy="3549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片側路面入力による異常振動の物理">
  <a:themeElements>
    <a:clrScheme name="片側路面入力による異常振動の物理">
      <a:dk1>
        <a:srgbClr val="1F2A37"/>
      </a:dk1>
      <a:lt1>
        <a:srgbClr val="FFFFFF"/>
      </a:lt1>
      <a:dk2>
        <a:srgbClr val="575F69"/>
      </a:dk2>
      <a:lt2>
        <a:srgbClr val="E9EAEB"/>
      </a:lt2>
      <a:accent1>
        <a:srgbClr val="C8551F"/>
      </a:accent1>
      <a:accent2>
        <a:srgbClr val="4A5568"/>
      </a:accent2>
      <a:accent3>
        <a:srgbClr val="9AA0A6"/>
      </a:accent3>
      <a:accent4>
        <a:srgbClr val="797F87"/>
      </a:accent4>
      <a:accent5>
        <a:srgbClr val="9A9FA5"/>
      </a:accent5>
      <a:accent6>
        <a:srgbClr val="BCBFC3"/>
      </a:accent6>
      <a:hlink>
        <a:srgbClr val="0563C1"/>
      </a:hlink>
      <a:folHlink>
        <a:srgbClr val="954F72"/>
      </a:folHlink>
    </a:clrScheme>
    <a:fontScheme name="片側路面入力による異常振動の物理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片側路面入力による異常振動の物理</dc:title>
  <dc:subject/>
  <dc:creator/>
  <cp:lastModifiedBy/>
  <cp:revision>1</cp:revision>
  <dcterms:created xsi:type="dcterms:W3CDTF">2026-10-16T07:09:15Z</dcterms:created>
  <dcterms:modified xsi:type="dcterms:W3CDTF">2026-10-16T07:09:15Z</dcterms:modified>
</cp:coreProperties>
</file>