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検討案のスライドで、横風のモデルと抽出処理はまだ実装していない。左：左から横風を受けたときの挙動の時間順（①②④は上から見た図、③は後ろから見た図）。中央：単軌道モデルにロールと空気力を加えた運動方程式。力の目安は側面積・横力係数を仮定した概算。右：CAN/IMU に現れると期待される特徴と、道路の傾き・カーブとの見分け方。注意点：comma2k19 に風のデータはなく、気象観測所のデータとの照合が必要。openpilot の車線維持が修正操舵を代行すると、横ずれが小さく出る。対象期間（2018 年 7〜8 月、サンフランシスコ近郊）に明確な強風の事例があるかはまず確認が必要。路面の振動（8〜15 Hz）とは周波数で分かれるが、操舵や道路の曲がり（0.1〜2 Hz）とは重なるため、操舵で説明できる分をモデルで差し引くことが要になる。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508000" y="355600"/>
            <a:ext cx="11176000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508000" y="1010890"/>
            <a:ext cx="10871200" cy="50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508000" y="355600"/>
            <a:ext cx="11176000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4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4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508000" y="1010890"/>
            <a:ext cx="10871200" cy="503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508000" y="355600"/>
            <a:ext cx="11511280" cy="3758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400" b="1" i="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横風による車両挙動のモデル化と検出の検討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8000" y="769590"/>
            <a:ext cx="115112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横風は車を</a:t>
            </a: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風下へ向け・流し・傾け</a:t>
            </a: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、修正操舵を引き起こす。手がかりは</a:t>
            </a:r>
            <a:r>
              <a:rPr lang="en-US" sz="13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操舵で説明できないヨーと舵角のずれ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8000" y="1153120"/>
            <a:ext cx="3924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横風による車両挙動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8000" y="139695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風が左から吹く場合（③ は後ろから見た図）</a:t>
            </a:r>
            <a:endParaRPr lang="en-US" sz="1200" dirty="0"/>
          </a:p>
        </p:txBody>
      </p:sp>
      <p:pic>
        <p:nvPicPr>
          <p:cNvPr id="6" name="Image 0" descr="上から見た図。左からの横風が、重心より前の風圧中心に横力として働く">    </p:cNvPr>
          <p:cNvPicPr>
            <a:picLocks noChangeAspect="1"/>
          </p:cNvPicPr>
          <p:nvPr/>
        </p:nvPicPr>
        <p:blipFill>
          <a:blip r:embed="rId1"/>
          <a:srcRect l="-143" r="-143" t="0" b="0"/>
          <a:stretch/>
        </p:blipFill>
        <p:spPr>
          <a:xfrm>
            <a:off x="514350" y="169282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511175" y="168964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8000" y="272152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横風を受ける</a:t>
            </a:r>
            <a:endParaRPr lang="en-US" sz="1200" dirty="0"/>
          </a:p>
        </p:txBody>
      </p:sp>
      <p:pic>
        <p:nvPicPr>
          <p:cNvPr id="9" name="Image 1" descr="上から見た図。車の向きが風下側へ変わる">    </p:cNvPr>
          <p:cNvPicPr>
            <a:picLocks noChangeAspect="1"/>
          </p:cNvPicPr>
          <p:nvPr/>
        </p:nvPicPr>
        <p:blipFill>
          <a:blip r:embed="rId2"/>
          <a:srcRect l="-143" r="-143" t="0" b="0"/>
          <a:stretch/>
        </p:blipFill>
        <p:spPr>
          <a:xfrm>
            <a:off x="2228850" y="169282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10" name="Shape 6"/>
          <p:cNvSpPr/>
          <p:nvPr/>
        </p:nvSpPr>
        <p:spPr>
          <a:xfrm>
            <a:off x="2225675" y="168964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222500" y="272152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風下へ向く</a:t>
            </a:r>
            <a:endParaRPr lang="en-US" sz="1200" dirty="0"/>
          </a:p>
        </p:txBody>
      </p:sp>
      <p:pic>
        <p:nvPicPr>
          <p:cNvPr id="12" name="Image 2" descr="後ろから見た図。車体が風下側へ傾き、横に流される">    </p:cNvPr>
          <p:cNvPicPr>
            <a:picLocks noChangeAspect="1"/>
          </p:cNvPicPr>
          <p:nvPr/>
        </p:nvPicPr>
        <p:blipFill>
          <a:blip r:embed="rId3"/>
          <a:srcRect l="-143" r="-143" t="0" b="0"/>
          <a:stretch/>
        </p:blipFill>
        <p:spPr>
          <a:xfrm>
            <a:off x="514350" y="293360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13" name="Shape 8"/>
          <p:cNvSpPr/>
          <p:nvPr/>
        </p:nvSpPr>
        <p:spPr>
          <a:xfrm>
            <a:off x="511175" y="293042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08000" y="396230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流され、傾く</a:t>
            </a:r>
            <a:endParaRPr lang="en-US" sz="1200" dirty="0"/>
          </a:p>
        </p:txBody>
      </p:sp>
      <p:pic>
        <p:nvPicPr>
          <p:cNvPr id="15" name="Image 3" descr="上から見た図。風上側へ当て舵して車線の中央へ戻る">    </p:cNvPr>
          <p:cNvPicPr>
            <a:picLocks noChangeAspect="1"/>
          </p:cNvPicPr>
          <p:nvPr/>
        </p:nvPicPr>
        <p:blipFill>
          <a:blip r:embed="rId4"/>
          <a:srcRect l="-143" r="-143" t="0" b="0"/>
          <a:stretch/>
        </p:blipFill>
        <p:spPr>
          <a:xfrm>
            <a:off x="2228850" y="2933601"/>
            <a:ext cx="1701800" cy="996950"/>
          </a:xfrm>
          <a:prstGeom prst="roundRect">
            <a:avLst>
              <a:gd name="adj" fmla="val 4459"/>
            </a:avLst>
          </a:prstGeom>
        </p:spPr>
      </p:pic>
      <p:sp>
        <p:nvSpPr>
          <p:cNvPr id="16" name="Shape 10"/>
          <p:cNvSpPr/>
          <p:nvPr/>
        </p:nvSpPr>
        <p:spPr>
          <a:xfrm>
            <a:off x="2225675" y="2930426"/>
            <a:ext cx="1708150" cy="1003300"/>
          </a:xfrm>
          <a:prstGeom prst="roundRect">
            <a:avLst>
              <a:gd name="adj" fmla="val 4747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22500" y="3962301"/>
            <a:ext cx="1765935" cy="231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修正操舵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08000" y="4244231"/>
            <a:ext cx="3810000" cy="1346002"/>
          </a:xfrm>
          <a:prstGeom prst="roundRect">
            <a:avLst>
              <a:gd name="adj" fmla="val 5661"/>
            </a:avLst>
          </a:prstGeom>
          <a:solidFill>
            <a:srgbClr val="F1F3F6"/>
          </a:solidFill>
          <a:ln/>
        </p:spPr>
      </p:sp>
      <p:sp>
        <p:nvSpPr>
          <p:cNvPr id="19" name="Text 13"/>
          <p:cNvSpPr/>
          <p:nvPr/>
        </p:nvSpPr>
        <p:spPr>
          <a:xfrm>
            <a:off x="635000" y="4345831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①〜②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横力・ヨー（突風なら 0.1〜1 s）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35000" y="4584551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横ずれ 1〜数 s、ロール 0.5〜2 Hz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35000" y="4823271"/>
            <a:ext cx="3662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運転者・車線維持が 0.3〜2 s 遅れて修正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635000" y="5061992"/>
            <a:ext cx="36626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一定の風：舵角のずれが続く。突風：ヨーの乱れと修正操舵の往復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0" y="1153120"/>
            <a:ext cx="36626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物理モデル（単軌道 + ロール + 空気力）</a:t>
            </a:r>
            <a:endParaRPr lang="en-US" sz="1300" dirty="0"/>
          </a:p>
        </p:txBody>
      </p:sp>
      <p:pic>
        <p:nvPicPr>
          <p:cNvPr id="24" name="Image 4" descr="横風の空気力、単軌道モデルの横とヨーの運動方程式、ロールの式、操舵の式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2000" y="1460450"/>
            <a:ext cx="3556000" cy="31750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572000" y="4711650"/>
            <a:ext cx="3556000" cy="1307902"/>
          </a:xfrm>
          <a:prstGeom prst="roundRect">
            <a:avLst>
              <a:gd name="adj" fmla="val 5826"/>
            </a:avLst>
          </a:prstGeom>
          <a:solidFill>
            <a:srgbClr val="F1F3F6"/>
          </a:solidFill>
          <a:ln/>
        </p:spPr>
      </p:sp>
      <p:sp>
        <p:nvSpPr>
          <p:cNvPr id="26" name="Text 19"/>
          <p:cNvSpPr/>
          <p:nvPr/>
        </p:nvSpPr>
        <p:spPr>
          <a:xfrm>
            <a:off x="4699000" y="4813250"/>
            <a:ext cx="340106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力の目安（仮定）</a:t>
            </a: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側面積 約 6 m²、C_y 約 0.8 なら、10 m/s の横風で約 300 N（横加速度 約 0.2 m/s²）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699000" y="5491311"/>
            <a:ext cx="34010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e：重心から風圧中心まで、h_w：風圧中心の高さ、δ_corr：横ずれ Δy と向き Δψ への修正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8382000" y="1153120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C855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CAN/IMU に現れる特徴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385175" y="1463625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8515350" y="1555700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ハンドル角（CAN）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8515350" y="1812230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まっすぐな道で風上へ切ったままになる（一定の風）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385175" y="2413496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8515350" y="2505571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ヨーレート残差（CAN）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8515350" y="2762101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実測 − 単軌道モデル。突風で操舵では説明できないヨー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385175" y="3363367"/>
            <a:ext cx="3295650" cy="654000"/>
          </a:xfrm>
          <a:prstGeom prst="roundRect">
            <a:avLst>
              <a:gd name="adj" fmla="val 9224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515350" y="3455442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横加速度・ロール（IMU）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8515350" y="3711972"/>
            <a:ext cx="31263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風下へ傾き、通常のロール勾配からずれる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385175" y="4099917"/>
            <a:ext cx="3295650" cy="867321"/>
          </a:xfrm>
          <a:prstGeom prst="roundRect">
            <a:avLst>
              <a:gd name="adj" fmla="val 6955"/>
            </a:avLst>
          </a:prstGeom>
          <a:noFill/>
          <a:ln w="6350">
            <a:solidFill>
              <a:srgbClr val="E3E6EA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515350" y="4191992"/>
            <a:ext cx="312635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操舵トルク（CAN）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8515350" y="4448522"/>
            <a:ext cx="31263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修正操舵の力が直接出る（復号できるかは要確認）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8382000" y="5046613"/>
            <a:ext cx="3302000" cy="860971"/>
          </a:xfrm>
          <a:prstGeom prst="roundRect">
            <a:avLst>
              <a:gd name="adj" fmla="val 7375"/>
            </a:avLst>
          </a:prstGeom>
          <a:solidFill>
            <a:srgbClr val="F1F3F6"/>
          </a:solidFill>
          <a:ln/>
        </p:spPr>
      </p:sp>
      <p:sp>
        <p:nvSpPr>
          <p:cNvPr id="42" name="Text 35"/>
          <p:cNvSpPr/>
          <p:nvPr/>
        </p:nvSpPr>
        <p:spPr>
          <a:xfrm>
            <a:off x="8509000" y="5135513"/>
            <a:ext cx="313944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道路の傾き・カーブとの見分け方</a:t>
            </a:r>
            <a:endParaRPr lang="en-US" sz="1300" dirty="0"/>
          </a:p>
        </p:txBody>
      </p:sp>
      <p:sp>
        <p:nvSpPr>
          <p:cNvPr id="43" name="Text 36"/>
          <p:cNvSpPr/>
          <p:nvPr/>
        </p:nvSpPr>
        <p:spPr>
          <a:xfrm>
            <a:off x="8509000" y="5392043"/>
            <a:ext cx="31394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同じ場所の別の日と比べる。往復で向きが逆。数分続く。気象データと照合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横風による車両挙動のモデル化と検出の検討">
  <a:themeElements>
    <a:clrScheme name="横風による車両挙動のモデル化と検出の検討">
      <a:dk1>
        <a:srgbClr val="1F2A37"/>
      </a:dk1>
      <a:lt1>
        <a:srgbClr val="FFFFFF"/>
      </a:lt1>
      <a:dk2>
        <a:srgbClr val="575F69"/>
      </a:dk2>
      <a:lt2>
        <a:srgbClr val="E9EAEB"/>
      </a:lt2>
      <a:accent1>
        <a:srgbClr val="C8551F"/>
      </a:accent1>
      <a:accent2>
        <a:srgbClr val="4A5568"/>
      </a:accent2>
      <a:accent3>
        <a:srgbClr val="9AA0A6"/>
      </a:accent3>
      <a:accent4>
        <a:srgbClr val="797F87"/>
      </a:accent4>
      <a:accent5>
        <a:srgbClr val="9A9FA5"/>
      </a:accent5>
      <a:accent6>
        <a:srgbClr val="BCBFC3"/>
      </a:accent6>
      <a:hlink>
        <a:srgbClr val="0563C1"/>
      </a:hlink>
      <a:folHlink>
        <a:srgbClr val="954F72"/>
      </a:folHlink>
    </a:clrScheme>
    <a:fontScheme name="横風による車両挙動のモデル化と検出の検討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横風による車両挙動のモデル化と検出の検討</dc:title>
  <dc:subject/>
  <dc:creator/>
  <cp:lastModifiedBy/>
  <cp:revision>1</cp:revision>
  <dcterms:created xsi:type="dcterms:W3CDTF">2026-10-19T01:27:18Z</dcterms:created>
  <dcterms:modified xsi:type="dcterms:W3CDTF">2026-10-19T01:27:18Z</dcterms:modified>
</cp:coreProperties>
</file>